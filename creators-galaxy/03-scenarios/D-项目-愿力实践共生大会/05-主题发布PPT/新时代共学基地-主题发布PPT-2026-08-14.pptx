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开场30秒。黑场起，一束暖光从黑暗中亮起，节点依次浮现——不是发布课程，而是提出一个问题：文明转型期，我们要培养什么样的人？</a:t>
            </a:r>
          </a:p>
          <a:p>
            <a:r>
              <a:t>来源备注：无历史图片；视觉=暖光+节点（程序绘制）。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停顿页。语速放慢。</a:t>
            </a:r>
          </a:p>
          <a:p>
            <a:r>
              <a:t>画面：左侧线条人（人为主体、暖白），右侧一个较小的AI节点（暖灰），中间一条细线——人与AI并肩，但人是主体。</a:t>
            </a:r>
          </a:p>
          <a:p>
            <a:r>
              <a:t>AI改变的是能力边界；真正需要重新回答的，是人的价值。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停顿页。大幅真实抗大历史照片。</a:t>
            </a:r>
          </a:p>
          <a:p>
            <a:r>
              <a:t>图片来源：Wikimedia Commons「File:1966-11 1936年抗大.jpg」（公有领域，源自《人民画报》1966年第11期）。</a:t>
            </a:r>
          </a:p>
          <a:p>
            <a:r>
              <a:t>史实参考：抗大（中国人民抗日军事政治大学）1936年6月创办于陕北瓦窑堡，1937年1月迁延安；毛泽东任教育委员会主席，题写校训「团结、紧张、活泼、严肃」；至抗战胜利，总校及分校共培养军政干部约10余万人。（人民网·党史资料）</a:t>
            </a:r>
          </a:p>
          <a:p>
            <a:r>
              <a:t>用法：借历史提出今天的问题——时代转折期，需要培养承担使命的人。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对照页。中间竖线=「文明之门」（暗红+节点）。</a:t>
            </a:r>
          </a:p>
          <a:p>
            <a:r>
              <a:t>左：抗大——民族危难、时代骨干、共同使命、实践成长。</a:t>
            </a:r>
          </a:p>
          <a:p>
            <a:r>
              <a:t>右：共学基地——文明转型、文明节点、共同愿力、实践共创。</a:t>
            </a:r>
          </a:p>
          <a:p>
            <a:r>
              <a:t>页面核心句：过去培养承担时代责任的人；今天培养能够创造未来的人。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三个变化，逐条停顿：价值在变、组织在变、觉醒的人缺少土壤。</a:t>
            </a:r>
          </a:p>
          <a:p>
            <a:r>
              <a:t>落点：新时代需要一种新的成长与实践基础设施——这就是共学基地的为什么。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定义页，停顿。三个关键词用暗红强调：愿力主体 / 组织建设者 / 生态共创者。</a:t>
            </a:r>
          </a:p>
          <a:p>
            <a:r>
              <a:t>背景极简：一束暖光，一个节点。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「共·学·基地」三字拆解。</a:t>
            </a:r>
          </a:p>
          <a:p>
            <a:r>
              <a:t>共=共同探索、共同成长、共同创造；学=不是知识灌输，而是人的持续成长；基地=不是课堂，而是实践、关系与共创发生的空间。</a:t>
            </a:r>
          </a:p>
          <a:p>
            <a:r>
              <a:t>视觉：三个词形成不断展开的空间结构（同心弧由内向外展开）。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停顿页。「我们培养文明节点。」</a:t>
            </a:r>
          </a:p>
          <a:p>
            <a:r>
              <a:t>四类人是入口，不是HR分类表：个人成长者 / 企业一号位 / 组织建设者 / 生态贡献者。</a:t>
            </a:r>
          </a:p>
          <a:p>
            <a:r>
              <a:t>视觉：四个独立节点连接成网络（节点网络在画面下方）。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力量页，六个关键词逐词停顿：看得见自己 / 找得到方向 / 能够创造 / 能够连接 / 能够承担 / 能够共建。</a:t>
            </a:r>
          </a:p>
          <a:p>
            <a:r>
              <a:t>落点：从「被组织的人」，成为「能够生成组织与生态的人」。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看见→连接→实践→共创，是一个持续循环的生命环（四阶段动态关系），不是四个模块。</a:t>
            </a:r>
          </a:p>
          <a:p>
            <a:r>
              <a:t>看见自己、组织与时代；连接伙伴与生态位置；进入真实企业、项目、社区实践；共同沉淀方法、案例与未来样本。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智慧教练=穿行在成长过程中的陪伴者（一条陪伴线穿过个人/组织/生态三个场景）。</a:t>
            </a:r>
          </a:p>
          <a:p>
            <a:r>
              <a:t>关键词：看见 / 提问 / 陪伴 / 复盘 / 校真 / 行动支持。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一条从自己走向世界的实践路径：归源（看见自己）→ 成长（形成能力）→ 实践（进入真实世界）→ 共创（成为生态节点）。</a:t>
            </a:r>
          </a:p>
          <a:p>
            <a:r>
              <a:t>注意：这是初步路径设想，不是传统课程流程箭头。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四个实践场域：个人（智慧教练/启愿师）、组织（愿力实践型组织）、企业（愿力灯塔型企业）、生态（社区/共学基地/生命品牌/生态共建）。</a:t>
            </a:r>
          </a:p>
          <a:p>
            <a:r>
              <a:t>强调：开放中的初步方向，不是最终课程目录。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停顿页。「答案还没有完成。」</a:t>
            </a:r>
          </a:p>
          <a:p>
            <a:r>
              <a:t>邀请企业家/管理者/智慧教练/学者/组织实践者/生态发起人共同回答四个问题。</a:t>
            </a:r>
          </a:p>
          <a:p>
            <a:r>
              <a:t>视觉：多个不同节点逐渐汇聚，非中心化（无金字塔）。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结束页，全黑背景，停顿。</a:t>
            </a:r>
          </a:p>
          <a:p>
            <a:r>
              <a:t>封存句：抗大培养的是民族危难中的时代骨干；新时代共学基地，要培养文明转型中的愿力节点。</a:t>
            </a:r>
          </a:p>
          <a:p>
            <a:r>
              <a:t>无二维码、无Logo墙。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70448" y="1810512"/>
            <a:ext cx="457200" cy="27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445752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5600" b="1">
                <a:solidFill>
                  <a:srgbClr val="E8E0D2"/>
                </a:solidFill>
                <a:latin typeface="微软雅黑"/>
                <a:ea typeface="微软雅黑"/>
              </a:rPr>
              <a:t>新时代共学基地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56432"/>
            <a:ext cx="94457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>
                <a:solidFill>
                  <a:srgbClr val="C9C0B1"/>
                </a:solidFill>
                <a:latin typeface="微软雅黑"/>
                <a:ea typeface="微软雅黑"/>
              </a:rPr>
              <a:t>AI文明时代的愿力实践者成长与共创平台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989320"/>
            <a:ext cx="9445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0">
                <a:solidFill>
                  <a:srgbClr val="E8E0D2"/>
                </a:solidFill>
                <a:latin typeface="微软雅黑"/>
                <a:ea typeface="微软雅黑"/>
              </a:rPr>
              <a:t>益邻ELINK · 愿力实践共生大会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309360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600" b="1">
                <a:solidFill>
                  <a:srgbClr val="E8664F"/>
                </a:solidFill>
                <a:latin typeface="微软雅黑"/>
                <a:ea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1417320"/>
            <a:ext cx="999439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3000" b="0">
                <a:solidFill>
                  <a:srgbClr val="C9C0B1"/>
                </a:solidFill>
                <a:latin typeface="微软雅黑"/>
                <a:ea typeface="微软雅黑"/>
              </a:rPr>
              <a:t>AI正在改变人的能力边界。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999439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3400" b="1">
                <a:solidFill>
                  <a:srgbClr val="E8E0D2"/>
                </a:solidFill>
                <a:latin typeface="微软雅黑"/>
                <a:ea typeface="微软雅黑"/>
              </a:rPr>
              <a:t>而真正需要重新回答的，是</a:t>
            </a:r>
            <a:r>
              <a:rPr sz="3400" b="1">
                <a:solidFill>
                  <a:srgbClr val="E8664F"/>
                </a:solidFill>
                <a:latin typeface="微软雅黑"/>
                <a:ea typeface="微软雅黑"/>
              </a:rPr>
              <a:t>人的价值</a:t>
            </a:r>
            <a:r>
              <a:rPr sz="3400" b="1">
                <a:solidFill>
                  <a:srgbClr val="E8E0D2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440680"/>
            <a:ext cx="99943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900" b="0">
                <a:solidFill>
                  <a:srgbClr val="C9C0B1"/>
                </a:solidFill>
                <a:latin typeface="微软雅黑"/>
                <a:ea typeface="微软雅黑"/>
              </a:rPr>
              <a:t>我是谁？　我为什么创造？　我的不可替代价值是什么？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40" y="36118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C9C0B1"/>
                </a:solidFill>
                <a:latin typeface="微软雅黑"/>
                <a:ea typeface="微软雅黑"/>
              </a:rPr>
              <a:t>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45262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C9C0B1"/>
                </a:solidFill>
                <a:latin typeface="微软雅黑"/>
                <a:ea typeface="微软雅黑"/>
              </a:rPr>
              <a:t>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309360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600" b="1">
                <a:solidFill>
                  <a:srgbClr val="E8664F"/>
                </a:solidFill>
                <a:latin typeface="微软雅黑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691640"/>
            <a:ext cx="96012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4200" b="1">
                <a:solidFill>
                  <a:srgbClr val="E8E0D2"/>
                </a:solidFill>
                <a:latin typeface="微软雅黑"/>
                <a:ea typeface="微软雅黑"/>
              </a:rPr>
              <a:t>时代转折期，需要培养时代骨干。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71800"/>
            <a:ext cx="69494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C9C0B1"/>
                </a:solidFill>
                <a:latin typeface="宋体"/>
                <a:ea typeface="宋体"/>
              </a:rPr>
              <a:t>抗大不是一所普通学校，而是在民族危难时期，为时代培养能够承担使命的人。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0644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C9C0B1"/>
                </a:solidFill>
                <a:latin typeface="微软雅黑"/>
                <a:ea typeface="微软雅黑"/>
              </a:rPr>
              <a:t>中国人民抗日军事政治大学 · 延安 · 1936年创办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09360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600" b="1">
                <a:solidFill>
                  <a:srgbClr val="E8664F"/>
                </a:solidFill>
                <a:latin typeface="微软雅黑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94560" y="1188720"/>
            <a:ext cx="3474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3200" b="1">
                <a:solidFill>
                  <a:srgbClr val="C9C0B1"/>
                </a:solidFill>
                <a:latin typeface="宋体"/>
                <a:ea typeface="宋体"/>
              </a:rPr>
              <a:t>抗大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2103120"/>
            <a:ext cx="34747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90000"/>
              </a:lnSpc>
            </a:pPr>
            <a:r>
              <a:rPr sz="2000" b="0">
                <a:solidFill>
                  <a:srgbClr val="E8E0D2"/>
                </a:solidFill>
                <a:latin typeface="微软雅黑"/>
                <a:ea typeface="微软雅黑"/>
              </a:rPr>
              <a:t>民族危难</a:t>
            </a:r>
          </a:p>
          <a:p>
            <a:pPr algn="r">
              <a:lnSpc>
                <a:spcPct val="190000"/>
              </a:lnSpc>
            </a:pPr>
            <a:r>
              <a:rPr sz="2000" b="0">
                <a:solidFill>
                  <a:srgbClr val="E8E0D2"/>
                </a:solidFill>
                <a:latin typeface="微软雅黑"/>
                <a:ea typeface="微软雅黑"/>
              </a:rPr>
              <a:t>时代骨干</a:t>
            </a:r>
          </a:p>
          <a:p>
            <a:pPr algn="r">
              <a:lnSpc>
                <a:spcPct val="190000"/>
              </a:lnSpc>
            </a:pPr>
            <a:r>
              <a:rPr sz="2000" b="0">
                <a:solidFill>
                  <a:srgbClr val="E8E0D2"/>
                </a:solidFill>
                <a:latin typeface="微软雅黑"/>
                <a:ea typeface="微软雅黑"/>
              </a:rPr>
              <a:t>共同使命</a:t>
            </a:r>
          </a:p>
          <a:p>
            <a:pPr algn="r">
              <a:lnSpc>
                <a:spcPct val="190000"/>
              </a:lnSpc>
            </a:pPr>
            <a:r>
              <a:rPr sz="2000" b="0">
                <a:solidFill>
                  <a:srgbClr val="E8E0D2"/>
                </a:solidFill>
                <a:latin typeface="微软雅黑"/>
                <a:ea typeface="微软雅黑"/>
              </a:rPr>
              <a:t>实践成长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118872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>
                <a:solidFill>
                  <a:srgbClr val="E8E0D2"/>
                </a:solidFill>
                <a:latin typeface="微软雅黑"/>
                <a:ea typeface="微软雅黑"/>
              </a:rPr>
              <a:t>共学基地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2103120"/>
            <a:ext cx="36576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90000"/>
              </a:lnSpc>
            </a:pPr>
            <a:r>
              <a:rPr sz="2000" b="0">
                <a:solidFill>
                  <a:srgbClr val="E8E0D2"/>
                </a:solidFill>
                <a:latin typeface="微软雅黑"/>
                <a:ea typeface="微软雅黑"/>
              </a:rPr>
              <a:t>文明转型</a:t>
            </a:r>
          </a:p>
          <a:p>
            <a:pPr algn="l">
              <a:lnSpc>
                <a:spcPct val="190000"/>
              </a:lnSpc>
            </a:pPr>
            <a:r>
              <a:rPr sz="2000" b="1">
                <a:solidFill>
                  <a:srgbClr val="E8E0D2"/>
                </a:solidFill>
                <a:latin typeface="微软雅黑"/>
                <a:ea typeface="微软雅黑"/>
              </a:rPr>
              <a:t>文明节点</a:t>
            </a:r>
          </a:p>
          <a:p>
            <a:pPr algn="l">
              <a:lnSpc>
                <a:spcPct val="190000"/>
              </a:lnSpc>
            </a:pPr>
            <a:r>
              <a:rPr sz="2000" b="0">
                <a:solidFill>
                  <a:srgbClr val="E8E0D2"/>
                </a:solidFill>
                <a:latin typeface="微软雅黑"/>
                <a:ea typeface="微软雅黑"/>
              </a:rPr>
              <a:t>共同愿力</a:t>
            </a:r>
          </a:p>
          <a:p>
            <a:pPr algn="l">
              <a:lnSpc>
                <a:spcPct val="190000"/>
              </a:lnSpc>
            </a:pPr>
            <a:r>
              <a:rPr sz="2000" b="0">
                <a:solidFill>
                  <a:srgbClr val="E8E0D2"/>
                </a:solidFill>
                <a:latin typeface="微软雅黑"/>
                <a:ea typeface="微软雅黑"/>
              </a:rPr>
              <a:t>实践共创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74920"/>
            <a:ext cx="9445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200" b="0">
                <a:solidFill>
                  <a:srgbClr val="E8E0D2"/>
                </a:solidFill>
                <a:latin typeface="微软雅黑"/>
                <a:ea typeface="微软雅黑"/>
              </a:rPr>
              <a:t>过去培养承担时代责任的人。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669280"/>
            <a:ext cx="94457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700" b="1">
                <a:solidFill>
                  <a:srgbClr val="E8E0D2"/>
                </a:solidFill>
                <a:latin typeface="微软雅黑"/>
                <a:ea typeface="微软雅黑"/>
              </a:rPr>
              <a:t>今天培养能够</a:t>
            </a:r>
            <a:r>
              <a:rPr sz="2700" b="1">
                <a:solidFill>
                  <a:srgbClr val="E8664F"/>
                </a:solidFill>
                <a:latin typeface="微软雅黑"/>
                <a:ea typeface="微软雅黑"/>
              </a:rPr>
              <a:t>创造未来</a:t>
            </a:r>
            <a:r>
              <a:rPr sz="2700" b="1">
                <a:solidFill>
                  <a:srgbClr val="E8E0D2"/>
                </a:solidFill>
                <a:latin typeface="微软雅黑"/>
                <a:ea typeface="微软雅黑"/>
              </a:rPr>
              <a:t>的人。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309360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600" b="1">
                <a:solidFill>
                  <a:srgbClr val="E8664F"/>
                </a:solidFill>
                <a:latin typeface="微软雅黑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874519"/>
            <a:ext cx="3291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500" b="1">
                <a:solidFill>
                  <a:srgbClr val="E8E0D2"/>
                </a:solidFill>
                <a:latin typeface="微软雅黑"/>
                <a:ea typeface="微软雅黑"/>
              </a:rPr>
              <a:t>人的价值正在变化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53128" y="1874519"/>
            <a:ext cx="3291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500" b="1">
                <a:solidFill>
                  <a:srgbClr val="E8E0D2"/>
                </a:solidFill>
                <a:latin typeface="微软雅黑"/>
                <a:ea typeface="微软雅黑"/>
              </a:rPr>
              <a:t>组织范式正在变化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5592" y="1874519"/>
            <a:ext cx="3291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500" b="1">
                <a:solidFill>
                  <a:srgbClr val="E8E0D2"/>
                </a:solidFill>
                <a:latin typeface="微软雅黑"/>
                <a:ea typeface="微软雅黑"/>
              </a:rPr>
              <a:t>觉醒的人缺少新的土壤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937760"/>
            <a:ext cx="94457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500" b="1">
                <a:solidFill>
                  <a:srgbClr val="E8E0D2"/>
                </a:solidFill>
                <a:latin typeface="微软雅黑"/>
                <a:ea typeface="微软雅黑"/>
              </a:rPr>
              <a:t>新时代需要一种新的成长与实践基础设施。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309360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600" b="1">
                <a:solidFill>
                  <a:srgbClr val="E8664F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8" name="Oval 7"/>
          <p:cNvSpPr/>
          <p:nvPr/>
        </p:nvSpPr>
        <p:spPr>
          <a:xfrm>
            <a:off x="2313432" y="1554480"/>
            <a:ext cx="118872" cy="118872"/>
          </a:xfrm>
          <a:prstGeom prst="ellipse">
            <a:avLst/>
          </a:prstGeom>
          <a:solidFill>
            <a:srgbClr val="A5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0" y="1554480"/>
            <a:ext cx="118872" cy="118872"/>
          </a:xfrm>
          <a:prstGeom prst="ellipse">
            <a:avLst/>
          </a:prstGeom>
          <a:solidFill>
            <a:srgbClr val="A5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56648" y="1554480"/>
            <a:ext cx="118872" cy="118872"/>
          </a:xfrm>
          <a:prstGeom prst="ellipse">
            <a:avLst/>
          </a:prstGeom>
          <a:solidFill>
            <a:srgbClr val="A5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41648" y="4206240"/>
            <a:ext cx="4114800" cy="18288"/>
          </a:xfrm>
          <a:prstGeom prst="rect">
            <a:avLst/>
          </a:prstGeom>
          <a:solidFill>
            <a:srgbClr val="A5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2331720"/>
            <a:ext cx="9079992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2700" b="0">
                <a:solidFill>
                  <a:srgbClr val="E8E0D2"/>
                </a:solidFill>
                <a:latin typeface="微软雅黑"/>
                <a:ea typeface="微软雅黑"/>
              </a:rPr>
              <a:t>共学基地，是面向AI文明时代，培养</a:t>
            </a:r>
            <a:r>
              <a:rPr sz="2700" b="1">
                <a:solidFill>
                  <a:srgbClr val="E8664F"/>
                </a:solidFill>
                <a:latin typeface="微软雅黑"/>
                <a:ea typeface="微软雅黑"/>
              </a:rPr>
              <a:t>愿力主体</a:t>
            </a:r>
            <a:r>
              <a:rPr sz="2700" b="0">
                <a:solidFill>
                  <a:srgbClr val="E8E0D2"/>
                </a:solidFill>
                <a:latin typeface="微软雅黑"/>
                <a:ea typeface="微软雅黑"/>
              </a:rPr>
              <a:t>、</a:t>
            </a:r>
            <a:r>
              <a:rPr sz="2700" b="1">
                <a:solidFill>
                  <a:srgbClr val="E8664F"/>
                </a:solidFill>
                <a:latin typeface="微软雅黑"/>
                <a:ea typeface="微软雅黑"/>
              </a:rPr>
              <a:t>组织建设者</a:t>
            </a:r>
            <a:r>
              <a:rPr sz="2700" b="0">
                <a:solidFill>
                  <a:srgbClr val="E8E0D2"/>
                </a:solidFill>
                <a:latin typeface="微软雅黑"/>
                <a:ea typeface="微软雅黑"/>
              </a:rPr>
              <a:t>与</a:t>
            </a:r>
            <a:r>
              <a:rPr sz="2700" b="1">
                <a:solidFill>
                  <a:srgbClr val="E8664F"/>
                </a:solidFill>
                <a:latin typeface="微软雅黑"/>
                <a:ea typeface="微软雅黑"/>
              </a:rPr>
              <a:t>生态共创者</a:t>
            </a:r>
            <a:r>
              <a:rPr sz="2700" b="0">
                <a:solidFill>
                  <a:srgbClr val="E8E0D2"/>
                </a:solidFill>
                <a:latin typeface="微软雅黑"/>
                <a:ea typeface="微软雅黑"/>
              </a:rPr>
              <a:t>的新型实践型学习共同体。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09360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600" b="1">
                <a:solidFill>
                  <a:srgbClr val="E8664F"/>
                </a:solidFill>
                <a:latin typeface="微软雅黑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137160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4600" b="1">
                <a:solidFill>
                  <a:srgbClr val="E8E0D2"/>
                </a:solidFill>
                <a:latin typeface="微软雅黑"/>
                <a:ea typeface="微软雅黑"/>
              </a:rPr>
              <a:t>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4600" b="1">
                <a:solidFill>
                  <a:srgbClr val="E8E0D2"/>
                </a:solidFill>
                <a:latin typeface="微软雅黑"/>
                <a:ea typeface="微软雅黑"/>
              </a:rPr>
              <a:t>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37160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4600" b="1">
                <a:solidFill>
                  <a:srgbClr val="E8E0D2"/>
                </a:solidFill>
                <a:latin typeface="微软雅黑"/>
                <a:ea typeface="微软雅黑"/>
              </a:rPr>
              <a:t>基地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59152"/>
            <a:ext cx="30175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70000"/>
              </a:lnSpc>
            </a:pPr>
            <a:r>
              <a:rPr sz="1900" b="0">
                <a:solidFill>
                  <a:srgbClr val="E8E0D2"/>
                </a:solidFill>
                <a:latin typeface="微软雅黑"/>
                <a:ea typeface="微软雅黑"/>
              </a:rPr>
              <a:t>共同探索</a:t>
            </a:r>
          </a:p>
          <a:p>
            <a:pPr algn="ctr">
              <a:lnSpc>
                <a:spcPct val="170000"/>
              </a:lnSpc>
            </a:pPr>
            <a:r>
              <a:rPr sz="1900" b="0">
                <a:solidFill>
                  <a:srgbClr val="E8E0D2"/>
                </a:solidFill>
                <a:latin typeface="微软雅黑"/>
                <a:ea typeface="微软雅黑"/>
              </a:rPr>
              <a:t>共同成长</a:t>
            </a:r>
          </a:p>
          <a:p>
            <a:pPr algn="ctr">
              <a:lnSpc>
                <a:spcPct val="170000"/>
              </a:lnSpc>
            </a:pPr>
            <a:r>
              <a:rPr sz="1900" b="0">
                <a:solidFill>
                  <a:srgbClr val="E8E0D2"/>
                </a:solidFill>
                <a:latin typeface="微软雅黑"/>
                <a:ea typeface="微软雅黑"/>
              </a:rPr>
              <a:t>共同创造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359152"/>
            <a:ext cx="30175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70000"/>
              </a:lnSpc>
            </a:pPr>
            <a:r>
              <a:rPr sz="1900" b="0">
                <a:solidFill>
                  <a:srgbClr val="E8E0D2"/>
                </a:solidFill>
                <a:latin typeface="微软雅黑"/>
                <a:ea typeface="微软雅黑"/>
              </a:rPr>
              <a:t>不是知识灌输</a:t>
            </a:r>
          </a:p>
          <a:p>
            <a:pPr algn="ctr">
              <a:lnSpc>
                <a:spcPct val="170000"/>
              </a:lnSpc>
            </a:pPr>
            <a:r>
              <a:rPr sz="1900" b="0">
                <a:solidFill>
                  <a:srgbClr val="E8E0D2"/>
                </a:solidFill>
                <a:latin typeface="微软雅黑"/>
                <a:ea typeface="微软雅黑"/>
              </a:rPr>
              <a:t>而是人的持续成长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359152"/>
            <a:ext cx="32004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1900" b="0">
                <a:solidFill>
                  <a:srgbClr val="E8E0D2"/>
                </a:solidFill>
                <a:latin typeface="微软雅黑"/>
                <a:ea typeface="微软雅黑"/>
              </a:rPr>
              <a:t>不是课堂</a:t>
            </a:r>
          </a:p>
          <a:p>
            <a:pPr algn="ctr">
              <a:lnSpc>
                <a:spcPct val="160000"/>
              </a:lnSpc>
            </a:pPr>
            <a:r>
              <a:rPr sz="1900" b="0">
                <a:solidFill>
                  <a:srgbClr val="E8E0D2"/>
                </a:solidFill>
                <a:latin typeface="微软雅黑"/>
                <a:ea typeface="微软雅黑"/>
              </a:rPr>
              <a:t>而是实践、关系</a:t>
            </a:r>
          </a:p>
          <a:p>
            <a:pPr algn="ctr">
              <a:lnSpc>
                <a:spcPct val="160000"/>
              </a:lnSpc>
            </a:pPr>
            <a:r>
              <a:rPr sz="1900" b="0">
                <a:solidFill>
                  <a:srgbClr val="E8E0D2"/>
                </a:solidFill>
                <a:latin typeface="微软雅黑"/>
                <a:ea typeface="微软雅黑"/>
              </a:rPr>
              <a:t>与共创发生的空间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309360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600" b="1">
                <a:solidFill>
                  <a:srgbClr val="E8664F"/>
                </a:solidFill>
                <a:latin typeface="微软雅黑"/>
                <a:ea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1234440"/>
            <a:ext cx="94457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3000" b="0">
                <a:solidFill>
                  <a:srgbClr val="C9C0B1"/>
                </a:solidFill>
                <a:latin typeface="微软雅黑"/>
                <a:ea typeface="微软雅黑"/>
              </a:rPr>
              <a:t>我们培养的不是学员——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4457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4600" b="1">
                <a:solidFill>
                  <a:srgbClr val="E8E0D2"/>
                </a:solidFill>
                <a:latin typeface="微软雅黑"/>
                <a:ea typeface="微软雅黑"/>
              </a:rPr>
              <a:t>我们培养</a:t>
            </a:r>
            <a:r>
              <a:rPr sz="4600" b="1">
                <a:solidFill>
                  <a:srgbClr val="E8664F"/>
                </a:solidFill>
                <a:latin typeface="微软雅黑"/>
                <a:ea typeface="微软雅黑"/>
              </a:rPr>
              <a:t>文明节点</a:t>
            </a:r>
            <a:r>
              <a:rPr sz="4600" b="1">
                <a:solidFill>
                  <a:srgbClr val="E8E0D2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571500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200" b="0">
                <a:solidFill>
                  <a:srgbClr val="E8E0D2"/>
                </a:solidFill>
                <a:latin typeface="微软雅黑"/>
                <a:ea typeface="微软雅黑"/>
              </a:rPr>
              <a:t>个人成长者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30168" y="571500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200" b="0">
                <a:solidFill>
                  <a:srgbClr val="E8E0D2"/>
                </a:solidFill>
                <a:latin typeface="微软雅黑"/>
                <a:ea typeface="微软雅黑"/>
              </a:rPr>
              <a:t>企业一号位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6248" y="571500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200" b="0">
                <a:solidFill>
                  <a:srgbClr val="E8E0D2"/>
                </a:solidFill>
                <a:latin typeface="微软雅黑"/>
                <a:ea typeface="微软雅黑"/>
              </a:rPr>
              <a:t>组织建设者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82328" y="571500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200" b="0">
                <a:solidFill>
                  <a:srgbClr val="E8E0D2"/>
                </a:solidFill>
                <a:latin typeface="微软雅黑"/>
                <a:ea typeface="微软雅黑"/>
              </a:rPr>
              <a:t>生态贡献者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309360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600" b="1">
                <a:solidFill>
                  <a:srgbClr val="E8664F"/>
                </a:solidFill>
                <a:latin typeface="微软雅黑"/>
                <a:ea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23444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600" b="0">
                <a:solidFill>
                  <a:srgbClr val="E8E0D2"/>
                </a:solidFill>
                <a:latin typeface="微软雅黑"/>
                <a:ea typeface="微软雅黑"/>
              </a:rPr>
              <a:t>看得见自己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53128" y="123444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600" b="0">
                <a:solidFill>
                  <a:srgbClr val="E8E0D2"/>
                </a:solidFill>
                <a:latin typeface="微软雅黑"/>
                <a:ea typeface="微软雅黑"/>
              </a:rPr>
              <a:t>找得到方向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82712" y="123444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600" b="0">
                <a:solidFill>
                  <a:srgbClr val="E8E0D2"/>
                </a:solidFill>
                <a:latin typeface="微软雅黑"/>
                <a:ea typeface="微软雅黑"/>
              </a:rPr>
              <a:t>能够创造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600" b="0">
                <a:solidFill>
                  <a:srgbClr val="E8E0D2"/>
                </a:solidFill>
                <a:latin typeface="微软雅黑"/>
                <a:ea typeface="微软雅黑"/>
              </a:rPr>
              <a:t>能够连接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53128" y="224028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600" b="0">
                <a:solidFill>
                  <a:srgbClr val="E8E0D2"/>
                </a:solidFill>
                <a:latin typeface="微软雅黑"/>
                <a:ea typeface="微软雅黑"/>
              </a:rPr>
              <a:t>能够承担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2712" y="224028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600" b="0">
                <a:solidFill>
                  <a:srgbClr val="E8E0D2"/>
                </a:solidFill>
                <a:latin typeface="微软雅黑"/>
                <a:ea typeface="微软雅黑"/>
              </a:rPr>
              <a:t>能够共建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977639"/>
            <a:ext cx="94457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2800" b="1">
                <a:solidFill>
                  <a:srgbClr val="E8E0D2"/>
                </a:solidFill>
                <a:latin typeface="微软雅黑"/>
                <a:ea typeface="微软雅黑"/>
              </a:rPr>
              <a:t>从「被组织的人」，成为</a:t>
            </a:r>
            <a:r>
              <a:rPr sz="2800" b="1">
                <a:solidFill>
                  <a:srgbClr val="E8664F"/>
                </a:solidFill>
                <a:latin typeface="微软雅黑"/>
                <a:ea typeface="微软雅黑"/>
              </a:rPr>
              <a:t>「能够生成组织与生态的人」</a:t>
            </a:r>
            <a:r>
              <a:rPr sz="2800" b="1">
                <a:solidFill>
                  <a:srgbClr val="E8E0D2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309360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600" b="1">
                <a:solidFill>
                  <a:srgbClr val="E8664F"/>
                </a:solidFill>
                <a:latin typeface="微软雅黑"/>
                <a:ea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502920"/>
            <a:ext cx="94457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3000" b="1">
                <a:solidFill>
                  <a:srgbClr val="E8E0D2"/>
                </a:solidFill>
                <a:latin typeface="微软雅黑"/>
                <a:ea typeface="微软雅黑"/>
              </a:rPr>
              <a:t>共学基地四大职能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10328" y="16002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800" b="1">
                <a:solidFill>
                  <a:srgbClr val="E8E0D2"/>
                </a:solidFill>
                <a:latin typeface="微软雅黑"/>
                <a:ea typeface="微软雅黑"/>
              </a:rPr>
              <a:t>看见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44568" y="212140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0">
                <a:solidFill>
                  <a:srgbClr val="E8E0D2"/>
                </a:solidFill>
                <a:latin typeface="微软雅黑"/>
                <a:ea typeface="微软雅黑"/>
              </a:rPr>
              <a:t>看见自己、组织与时代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32461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800" b="1">
                <a:solidFill>
                  <a:srgbClr val="E8E0D2"/>
                </a:solidFill>
                <a:latin typeface="微软雅黑"/>
                <a:ea typeface="微软雅黑"/>
              </a:rPr>
              <a:t>连接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4462272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0">
                <a:solidFill>
                  <a:srgbClr val="E8E0D2"/>
                </a:solidFill>
                <a:latin typeface="微软雅黑"/>
                <a:ea typeface="微软雅黑"/>
              </a:rPr>
              <a:t>找到伙伴与生态位置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587044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800" b="1">
                <a:solidFill>
                  <a:srgbClr val="E8E0D2"/>
                </a:solidFill>
                <a:latin typeface="微软雅黑"/>
                <a:ea typeface="微软雅黑"/>
              </a:rPr>
              <a:t>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4568" y="6391656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0">
                <a:solidFill>
                  <a:srgbClr val="E8E0D2"/>
                </a:solidFill>
                <a:latin typeface="微软雅黑"/>
                <a:ea typeface="微软雅黑"/>
              </a:rPr>
              <a:t>进入真实企业、项目、社区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324612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800" b="1">
                <a:solidFill>
                  <a:srgbClr val="E8664F"/>
                </a:solidFill>
                <a:latin typeface="微软雅黑"/>
                <a:ea typeface="微软雅黑"/>
              </a:rPr>
              <a:t>共创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4462272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0">
                <a:solidFill>
                  <a:srgbClr val="E8E0D2"/>
                </a:solidFill>
                <a:latin typeface="微软雅黑"/>
                <a:ea typeface="微软雅黑"/>
              </a:rPr>
              <a:t>共同沉淀方法、案例与未来样本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309360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600" b="1">
                <a:solidFill>
                  <a:srgbClr val="E8664F"/>
                </a:solidFill>
                <a:latin typeface="微软雅黑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051560"/>
            <a:ext cx="981151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</a:pPr>
            <a:r>
              <a:rPr sz="2600" b="0">
                <a:solidFill>
                  <a:srgbClr val="E8E0D2"/>
                </a:solidFill>
                <a:latin typeface="微软雅黑"/>
                <a:ea typeface="微软雅黑"/>
              </a:rPr>
              <a:t>智慧教练不是站在课堂前面的人，而是穿行在成长过程中的陪伴者。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4612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400" b="1">
                <a:solidFill>
                  <a:srgbClr val="E8E0D2"/>
                </a:solidFill>
                <a:latin typeface="微软雅黑"/>
                <a:ea typeface="微软雅黑"/>
              </a:rPr>
              <a:t>个人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44568" y="324612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400" b="1">
                <a:solidFill>
                  <a:srgbClr val="E8E0D2"/>
                </a:solidFill>
                <a:latin typeface="微软雅黑"/>
                <a:ea typeface="微软雅黑"/>
              </a:rPr>
              <a:t>组织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82712" y="324612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400" b="1">
                <a:solidFill>
                  <a:srgbClr val="E8E0D2"/>
                </a:solidFill>
                <a:latin typeface="微软雅黑"/>
                <a:ea typeface="微软雅黑"/>
              </a:rPr>
              <a:t>生态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709160"/>
            <a:ext cx="98115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E8E0D2"/>
                </a:solidFill>
                <a:latin typeface="微软雅黑"/>
                <a:ea typeface="微软雅黑"/>
              </a:rPr>
              <a:t>看见　·　提问　·　陪伴　·　复盘　·　校真　·　行动支持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309360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600" b="1">
                <a:solidFill>
                  <a:srgbClr val="E8664F"/>
                </a:solidFill>
                <a:latin typeface="微软雅黑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640080"/>
            <a:ext cx="94457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3000" b="1">
                <a:solidFill>
                  <a:srgbClr val="E8E0D2"/>
                </a:solidFill>
                <a:latin typeface="微软雅黑"/>
                <a:ea typeface="微软雅黑"/>
              </a:rPr>
              <a:t>一条从自己走向世界的实践路径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4340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300" b="1">
                <a:solidFill>
                  <a:srgbClr val="E8E0D2"/>
                </a:solidFill>
                <a:latin typeface="微软雅黑"/>
                <a:ea typeface="微软雅黑"/>
              </a:rPr>
              <a:t>归源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393192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300" b="1">
                <a:solidFill>
                  <a:srgbClr val="E8E0D2"/>
                </a:solidFill>
                <a:latin typeface="微软雅黑"/>
                <a:ea typeface="微软雅黑"/>
              </a:rPr>
              <a:t>成长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67528" y="324612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300" b="1">
                <a:solidFill>
                  <a:srgbClr val="E8E0D2"/>
                </a:solidFill>
                <a:latin typeface="微软雅黑"/>
                <a:ea typeface="微软雅黑"/>
              </a:rPr>
              <a:t>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99831" y="242316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300" b="1">
                <a:solidFill>
                  <a:srgbClr val="E8664F"/>
                </a:solidFill>
                <a:latin typeface="微软雅黑"/>
                <a:ea typeface="微软雅黑"/>
              </a:rPr>
              <a:t>共创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0">
                <a:solidFill>
                  <a:srgbClr val="C9C0B1"/>
                </a:solidFill>
                <a:latin typeface="微软雅黑"/>
                <a:ea typeface="微软雅黑"/>
              </a:rPr>
              <a:t>看见自己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539496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0">
                <a:solidFill>
                  <a:srgbClr val="C9C0B1"/>
                </a:solidFill>
                <a:latin typeface="微软雅黑"/>
                <a:ea typeface="微软雅黑"/>
              </a:rPr>
              <a:t>形成能力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67528" y="470916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0">
                <a:solidFill>
                  <a:srgbClr val="C9C0B1"/>
                </a:solidFill>
                <a:latin typeface="微软雅黑"/>
                <a:ea typeface="微软雅黑"/>
              </a:rPr>
              <a:t>进入真实世界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9831" y="388620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0">
                <a:solidFill>
                  <a:srgbClr val="C9C0B1"/>
                </a:solidFill>
                <a:latin typeface="微软雅黑"/>
                <a:ea typeface="微软雅黑"/>
              </a:rPr>
              <a:t>成为生态节点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309360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600" b="1">
                <a:solidFill>
                  <a:srgbClr val="E8664F"/>
                </a:solidFill>
                <a:latin typeface="微软雅黑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685800"/>
            <a:ext cx="94457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3000" b="1">
                <a:solidFill>
                  <a:srgbClr val="E8E0D2"/>
                </a:solidFill>
                <a:latin typeface="微软雅黑"/>
                <a:ea typeface="微软雅黑"/>
              </a:rPr>
              <a:t>四个实践场域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500" b="1">
                <a:solidFill>
                  <a:srgbClr val="E8E0D2"/>
                </a:solidFill>
                <a:latin typeface="微软雅黑"/>
                <a:ea typeface="微软雅黑"/>
              </a:rPr>
              <a:t>个人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274320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500" b="1">
                <a:solidFill>
                  <a:srgbClr val="E8E0D2"/>
                </a:solidFill>
                <a:latin typeface="微软雅黑"/>
                <a:ea typeface="微软雅黑"/>
              </a:rPr>
              <a:t>组织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74320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500" b="1">
                <a:solidFill>
                  <a:srgbClr val="E8E0D2"/>
                </a:solidFill>
                <a:latin typeface="微软雅黑"/>
                <a:ea typeface="微软雅黑"/>
              </a:rPr>
              <a:t>企业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274320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500" b="1">
                <a:solidFill>
                  <a:srgbClr val="E8E0D2"/>
                </a:solidFill>
                <a:latin typeface="微软雅黑"/>
                <a:ea typeface="微软雅黑"/>
              </a:rPr>
              <a:t>生态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1188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700" b="0">
                <a:solidFill>
                  <a:srgbClr val="E8E0D2"/>
                </a:solidFill>
                <a:latin typeface="微软雅黑"/>
                <a:ea typeface="微软雅黑"/>
              </a:rPr>
              <a:t>智慧教练 · 启愿师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361188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700" b="0">
                <a:solidFill>
                  <a:srgbClr val="E8E0D2"/>
                </a:solidFill>
                <a:latin typeface="微软雅黑"/>
                <a:ea typeface="微软雅黑"/>
              </a:rPr>
              <a:t>愿力实践型组织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61188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700" b="0">
                <a:solidFill>
                  <a:srgbClr val="E8E0D2"/>
                </a:solidFill>
                <a:latin typeface="微软雅黑"/>
                <a:ea typeface="微软雅黑"/>
              </a:rPr>
              <a:t>愿力灯塔型企业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3611880"/>
            <a:ext cx="2377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700" b="0">
                <a:solidFill>
                  <a:srgbClr val="E8E0D2"/>
                </a:solidFill>
                <a:latin typeface="微软雅黑"/>
                <a:ea typeface="微软雅黑"/>
              </a:rPr>
              <a:t>社区 · 共学基地</a:t>
            </a:r>
          </a:p>
          <a:p>
            <a:pPr algn="ctr">
              <a:lnSpc>
                <a:spcPct val="140000"/>
              </a:lnSpc>
            </a:pPr>
            <a:r>
              <a:rPr sz="1700" b="0">
                <a:solidFill>
                  <a:srgbClr val="E8E0D2"/>
                </a:solidFill>
                <a:latin typeface="微软雅黑"/>
                <a:ea typeface="微软雅黑"/>
              </a:rPr>
              <a:t>生命品牌 · 生态共建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E8E0D2"/>
                </a:solidFill>
                <a:latin typeface="微软雅黑"/>
                <a:ea typeface="微软雅黑"/>
              </a:rPr>
              <a:t>开放中的初步方向 · 不是最终课程目录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309360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600" b="1">
                <a:solidFill>
                  <a:srgbClr val="E8664F"/>
                </a:solidFill>
                <a:latin typeface="微软雅黑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1097280"/>
            <a:ext cx="944575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4000" b="1">
                <a:solidFill>
                  <a:srgbClr val="E8E0D2"/>
                </a:solidFill>
                <a:latin typeface="微软雅黑"/>
                <a:ea typeface="微软雅黑"/>
              </a:rPr>
              <a:t>答案还没有完成。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457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0">
                <a:solidFill>
                  <a:srgbClr val="C9C0B1"/>
                </a:solidFill>
                <a:latin typeface="微软雅黑"/>
                <a:ea typeface="微软雅黑"/>
              </a:rPr>
              <a:t>我们希望邀请：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4457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300" b="0">
                <a:solidFill>
                  <a:srgbClr val="E8E0D2"/>
                </a:solidFill>
                <a:latin typeface="微软雅黑"/>
                <a:ea typeface="微软雅黑"/>
              </a:rPr>
              <a:t>企业家 · 管理者 · 智慧教练 · 学者 · 组织实践者 · 生态发起人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069080"/>
            <a:ext cx="94457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E8E0D2"/>
                </a:solidFill>
                <a:latin typeface="微软雅黑"/>
                <a:ea typeface="微软雅黑"/>
              </a:rPr>
              <a:t>AI时代，人如何成长？　组织如何进化？　企业如何成为灯塔？　生态如何形成共生？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309360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600" b="1">
                <a:solidFill>
                  <a:srgbClr val="E8664F"/>
                </a:solidFill>
                <a:latin typeface="微软雅黑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103120"/>
            <a:ext cx="94457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600" b="0">
                <a:solidFill>
                  <a:srgbClr val="C9C0B1"/>
                </a:solidFill>
                <a:latin typeface="宋体"/>
                <a:ea typeface="宋体"/>
              </a:rPr>
              <a:t>抗大培养的是民族危难中的时代骨干。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46120"/>
            <a:ext cx="999439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600" b="1">
                <a:solidFill>
                  <a:srgbClr val="E8E0D2"/>
                </a:solidFill>
                <a:latin typeface="微软雅黑"/>
                <a:ea typeface="微软雅黑"/>
              </a:rPr>
              <a:t>新时代共学基地，要培养文明转型中的</a:t>
            </a:r>
            <a:r>
              <a:rPr sz="3600" b="1">
                <a:solidFill>
                  <a:srgbClr val="E8664F"/>
                </a:solidFill>
                <a:latin typeface="微软雅黑"/>
                <a:ea typeface="微软雅黑"/>
              </a:rPr>
              <a:t>愿力节点</a:t>
            </a:r>
            <a:r>
              <a:rPr sz="3600" b="1">
                <a:solidFill>
                  <a:srgbClr val="E8E0D2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989320"/>
            <a:ext cx="9445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0">
                <a:solidFill>
                  <a:srgbClr val="E8E0D2"/>
                </a:solidFill>
                <a:latin typeface="微软雅黑"/>
                <a:ea typeface="微软雅黑"/>
              </a:rPr>
              <a:t>共学 · 共创 · 共生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09360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600" b="1">
                <a:solidFill>
                  <a:srgbClr val="E8664F"/>
                </a:solidFill>
                <a:latin typeface="微软雅黑"/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